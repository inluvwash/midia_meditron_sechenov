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">
    <p:bg>
      <p:bgPr>
        <a:solidFill>
          <a:srgbClr val="F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23FA6"/>
          </a:solidFill>
          <a:ln w="12700">
            <a:solidFill>
              <a:srgbClr val="323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MEDITRON · МИДИЯ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03920" y="2560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Сеченовский университет · CDSS-прототип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47104"/>
            <a:ext cx="11155680" cy="0"/>
          </a:xfrm>
          <a:prstGeom prst="line">
            <a:avLst/>
          </a:prstGeom>
          <a:noFill/>
          <a:ln w="12700">
            <a:solidFill>
              <a:srgbClr val="CDD8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nal_midia_work/SechenovHybridCDSS_Midia_Final/assets/mid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1874520" cy="1801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10241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08E"/>
                </a:solidFill>
              </a:rPr>
              <a:t>Meditron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2944368" y="175564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3FA6"/>
                </a:solidFill>
              </a:rPr>
              <a:t>многослойный скрининг анемии и дефицитных состояний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944368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Команда «Мидия»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127248"/>
            <a:ext cx="10515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D8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34564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«Мы не автоматизируем эмпатию.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Мы освобождаем для неё место.»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188720" y="427939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38D"/>
                </a:solidFill>
              </a:rPr>
              <a:t>Машина структурирует данные · врач видит человека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17520" y="5166360"/>
            <a:ext cx="1417320" cy="310896"/>
          </a:xfrm>
          <a:prstGeom prst="roundRect">
            <a:avLst>
              <a:gd name="adj" fmla="val 44118"/>
            </a:avLst>
          </a:prstGeom>
          <a:solidFill>
            <a:srgbClr val="CDD8FF"/>
          </a:solidFill>
          <a:ln w="12700">
            <a:solidFill>
              <a:srgbClr val="CDD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90672" y="522579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108E"/>
                </a:solidFill>
              </a:rPr>
              <a:t>12 классов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5166360"/>
            <a:ext cx="1600200" cy="310896"/>
          </a:xfrm>
          <a:prstGeom prst="roundRect">
            <a:avLst>
              <a:gd name="adj" fmla="val 44118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522579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D98"/>
                </a:solidFill>
              </a:rPr>
              <a:t>840 пациентов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5166360"/>
            <a:ext cx="1828800" cy="310896"/>
          </a:xfrm>
          <a:prstGeom prst="roundRect">
            <a:avLst>
              <a:gd name="adj" fmla="val 44118"/>
            </a:avLst>
          </a:prstGeom>
          <a:solidFill>
            <a:srgbClr val="FDE8E4"/>
          </a:solidFill>
          <a:ln w="12700">
            <a:solidFill>
              <a:srgbClr val="FDE8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52257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663"/>
                </a:solidFill>
              </a:rPr>
              <a:t>uncertainty-first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Проблема — не только в диагнозе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Врач одновременно работает с данными, неопределённостью и человеком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9718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CDD8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CDD8FF"/>
          </a:solidFill>
          <a:ln w="12700">
            <a:solidFill>
              <a:srgbClr val="CD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8084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23FA6"/>
                </a:solidFill>
              </a:rPr>
              <a:t>Данные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08E"/>
                </a:solidFill>
              </a:rPr>
              <a:t>Десятки показателей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48716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Нужно быстро собрать, проверить единицы, сопоставить маркеры и контекст.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224528" y="1874520"/>
            <a:ext cx="29718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DE8E4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2121408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FDE8E4"/>
          </a:solidFill>
          <a:ln w="12700">
            <a:solidFill>
              <a:srgbClr val="FD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18084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663"/>
                </a:solidFill>
              </a:rPr>
              <a:t>Решение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53128" y="2606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08E"/>
                </a:solidFill>
              </a:rPr>
              <a:t>Неоднозначные паттерны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53128" y="3200400"/>
            <a:ext cx="248716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Ферритин, воспаление, смешанные дефициты и неполные данные могут давать конфликтующие сигналы.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763256" y="1874520"/>
            <a:ext cx="29718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DF6F3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2121408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218084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D98"/>
                </a:solidFill>
              </a:rPr>
              <a:t>Человек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91856" y="2606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08E"/>
                </a:solidFill>
              </a:rPr>
              <a:t>Пациент ждёт объяснения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91856" y="3200400"/>
            <a:ext cx="248716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Ему важно понять, что происходит, чего мы пока не знаем и зачем нужен следующий шаг.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1417320" y="4754880"/>
            <a:ext cx="9326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D8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507492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108E"/>
                </a:solidFill>
              </a:rPr>
              <a:t>Наша задача — уменьшить информационный шум, а не заменить клиническое мышление.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5486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8738D"/>
                </a:solidFill>
              </a:rPr>
              <a:t>Идея созвучна Deep Medicine Эрика Тополя: технологии должны возвращать внимание врачу и пациенту, а не вставать между ними.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Что просил заказчик — и что мы сделали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Строго в рамках кейса: числовая матрица лабораторных анализов и 12 классов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975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840 × 48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13816" y="246888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датасет кейса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3816" y="26974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взрослые 18–93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9232" y="1975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12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962656" y="246888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целевых классов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62656" y="26974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без старой 5-групповой проекции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983480" y="18288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48072" y="1975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37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111496" y="246888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ML-признаков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11496" y="26974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35 labs + возраст + пол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132320" y="18288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96912" y="1975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1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260336" y="246888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пациент за раз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60336" y="26974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врачебный сценарий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281160" y="18288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45752" y="1975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PDF/TXT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409176" y="246888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+ таблицы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09176" y="26974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с ручной проверкой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5800" y="3337560"/>
            <a:ext cx="10607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Ключевой принцип разделения данных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60120" y="415137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069080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Лабораторные показатели → clinical rules + ML + uncertainty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0120" y="454456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462272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Жалобы / анамнез / препараты → causal/context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0120" y="4937760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855464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ФИО → только текущая сессия и PDF; не ML и не LLM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Опциональная Llama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46520" y="40690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может структурировать сложный эпикриз и объяснить уже рассчитанный результат — но не меняет числа, класс или медицинские правила.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46520" y="4800600"/>
            <a:ext cx="2423160" cy="310896"/>
          </a:xfrm>
          <a:prstGeom prst="roundRect">
            <a:avLst>
              <a:gd name="adj" fmla="val 44118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486003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D98"/>
                </a:solidFill>
              </a:rPr>
              <a:t>локально / fallback без LLM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Один понятный путь врача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Интерфейс остаётся простым, а сложность системы — под капотом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938528" cy="201168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139696"/>
            <a:ext cx="347472" cy="347472"/>
          </a:xfrm>
          <a:prstGeom prst="ellipse">
            <a:avLst/>
          </a:prstGeom>
          <a:solidFill>
            <a:srgbClr val="323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952" y="2651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Пациент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ФИО, возраст, пол, клинический контекст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532888" y="2944368"/>
            <a:ext cx="283464" cy="0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965960"/>
            <a:ext cx="1938528" cy="201168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26664" y="2139696"/>
            <a:ext cx="347472" cy="347472"/>
          </a:xfrm>
          <a:prstGeom prst="ellipse">
            <a:avLst/>
          </a:prstGeom>
          <a:solidFill>
            <a:srgbClr val="323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26664" y="2651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Анализы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26664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PDF / TXT / XLSX / ручной ввод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800600" y="2944368"/>
            <a:ext cx="283464" cy="0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9784" y="1965960"/>
            <a:ext cx="1938528" cy="201168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94376" y="2139696"/>
            <a:ext cx="347472" cy="347472"/>
          </a:xfrm>
          <a:prstGeom prst="ellipse">
            <a:avLst/>
          </a:prstGeom>
          <a:solidFill>
            <a:srgbClr val="323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94376" y="2651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Проверка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94376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редактируемая карточка и единицы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068312" y="2944368"/>
            <a:ext cx="283464" cy="0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97496" y="1965960"/>
            <a:ext cx="1938528" cy="2011680"/>
          </a:xfrm>
          <a:prstGeom prst="roundRect">
            <a:avLst>
              <a:gd name="adj" fmla="val 5660"/>
            </a:avLst>
          </a:prstGeom>
          <a:solidFill>
            <a:srgbClr val="CDD8FF"/>
          </a:solidFill>
          <a:ln w="12700">
            <a:solidFill>
              <a:srgbClr val="323FA6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62088" y="2139696"/>
            <a:ext cx="347472" cy="347472"/>
          </a:xfrm>
          <a:prstGeom prst="ellipse">
            <a:avLst/>
          </a:prstGeom>
          <a:solidFill>
            <a:srgbClr val="F476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62088" y="2651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Скрининг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62088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7 независимых вычислительных слоёв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336024" y="2944368"/>
            <a:ext cx="283464" cy="0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65208" y="1965960"/>
            <a:ext cx="1938528" cy="201168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2139696"/>
            <a:ext cx="347472" cy="347472"/>
          </a:xfrm>
          <a:prstGeom prst="ellipse">
            <a:avLst/>
          </a:prstGeom>
          <a:solidFill>
            <a:srgbClr val="323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29800" y="2651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Результат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29800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</a:rPr>
              <a:t>врачебный отчёт + лист пациенту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1051560" y="4617720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DDF6F3"/>
          </a:solidFill>
          <a:ln w="12700">
            <a:solidFill>
              <a:srgbClr val="B7E5D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371600" y="490118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45F"/>
                </a:solidFill>
              </a:rPr>
              <a:t>После импорта врач всегда видит распознанные данные и может исправить их до расчёта.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7 вычислительных слоёв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Не один «умный» алгоритм, а несколько проверяемых взглядов на один профиль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069080" y="1664208"/>
            <a:ext cx="4041648" cy="512064"/>
          </a:xfrm>
          <a:prstGeom prst="roundRect">
            <a:avLst>
              <a:gd name="adj" fmla="val 21429"/>
            </a:avLst>
          </a:prstGeom>
          <a:solidFill>
            <a:srgbClr val="CDD8FF"/>
          </a:solidFill>
          <a:ln w="12700">
            <a:solidFill>
              <a:srgbClr val="CDD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0" y="181051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08E"/>
                </a:solidFill>
              </a:rPr>
              <a:t>1 · Нормализация + safety gate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9904" y="2176272"/>
            <a:ext cx="0" cy="219456"/>
          </a:xfrm>
          <a:prstGeom prst="line">
            <a:avLst/>
          </a:prstGeom>
          <a:noFill/>
          <a:ln w="25400">
            <a:solidFill>
              <a:srgbClr val="323F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2468880"/>
            <a:ext cx="356616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265176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08E"/>
                </a:solidFill>
              </a:rPr>
              <a:t>2 · Клинические правила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93992" y="2468880"/>
            <a:ext cx="356616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2651760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08E"/>
                </a:solidFill>
              </a:rPr>
              <a:t>3 · ML · 12 классов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3063240"/>
            <a:ext cx="457200" cy="256032"/>
          </a:xfrm>
          <a:prstGeom prst="line">
            <a:avLst/>
          </a:prstGeom>
          <a:noFill/>
          <a:ln w="25400">
            <a:solidFill>
              <a:srgbClr val="323F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93992" y="3063240"/>
            <a:ext cx="-457200" cy="256032"/>
          </a:xfrm>
          <a:prstGeom prst="line">
            <a:avLst/>
          </a:prstGeom>
          <a:noFill/>
          <a:ln w="25400">
            <a:solidFill>
              <a:srgbClr val="323F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3346704"/>
            <a:ext cx="6537960" cy="566928"/>
          </a:xfrm>
          <a:prstGeom prst="roundRect">
            <a:avLst>
              <a:gd name="adj" fmla="val 19355"/>
            </a:avLst>
          </a:prstGeom>
          <a:solidFill>
            <a:srgbClr val="FDE8E4"/>
          </a:solidFill>
          <a:ln w="12700">
            <a:solidFill>
              <a:srgbClr val="F5B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4655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08E"/>
                </a:solidFill>
              </a:rPr>
              <a:t>4 · Карта неопределённости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623560" y="34655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8738D"/>
                </a:solidFill>
              </a:rPr>
              <a:t>где конфликт и какой маркер уменьшит его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089904" y="3913632"/>
            <a:ext cx="0" cy="146304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4096512"/>
            <a:ext cx="6537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42153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08E"/>
                </a:solidFill>
              </a:rPr>
              <a:t>5 · Причинно-следственные связи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623560" y="4215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8738D"/>
                </a:solidFill>
              </a:rPr>
              <a:t>что видим → что поддерживает → что может объяснять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089904" y="4663440"/>
            <a:ext cx="0" cy="146304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4846320"/>
            <a:ext cx="6537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965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08E"/>
                </a:solidFill>
              </a:rPr>
              <a:t>6 · Похожие профили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623560" y="4965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8738D"/>
                </a:solidFill>
              </a:rPr>
              <a:t>reference cohort + подтверждённые обезличенные случаи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089904" y="5413248"/>
            <a:ext cx="0" cy="146304"/>
          </a:xfrm>
          <a:prstGeom prst="line">
            <a:avLst/>
          </a:prstGeom>
          <a:noFill/>
          <a:ln w="25400">
            <a:solidFill>
              <a:srgbClr val="CDD8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34640" y="5596128"/>
            <a:ext cx="6537960" cy="566928"/>
          </a:xfrm>
          <a:prstGeom prst="roundRect">
            <a:avLst>
              <a:gd name="adj" fmla="val 19355"/>
            </a:avLst>
          </a:prstGeom>
          <a:solidFill>
            <a:srgbClr val="DDF6F3"/>
          </a:solidFill>
          <a:ln w="12700">
            <a:solidFill>
              <a:srgbClr val="AFE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5715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1108E"/>
                </a:solidFill>
              </a:rPr>
              <a:t>7 · AI / RAG-объяснение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623560" y="5715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8738D"/>
                </a:solidFill>
              </a:rPr>
              <a:t>опционально; только перевод результата на человеческий язык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1920240" y="63642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38D"/>
                </a:solidFill>
              </a:rPr>
              <a:t>Карточка пациента, МКБ-10, case-base и PDF — инфраструктура вокруг расчёта, а не дополнительные «слои диагностики».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Главная фишка: система умеет сомневаться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Не просто «выбрать класс», а объяснить структуру неопределённости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3108960" cy="36118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08E"/>
                </a:solidFill>
              </a:rPr>
              <a:t>Что видим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55117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688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Hb 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99008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9077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TSAT 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429000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467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CRP 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3867912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78561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Ferritin — неоднозначен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4306824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2245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Ret-He отсутствует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60520" y="1783080"/>
            <a:ext cx="37947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F5B4AA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53128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08E"/>
                </a:solidFill>
              </a:rPr>
              <a:t>Конфликт гипотез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6280" y="2560320"/>
            <a:ext cx="1417320" cy="310896"/>
          </a:xfrm>
          <a:prstGeom prst="roundRect">
            <a:avLst>
              <a:gd name="adj" fmla="val 44118"/>
            </a:avLst>
          </a:prstGeom>
          <a:solidFill>
            <a:srgbClr val="FDE8E4"/>
          </a:solidFill>
          <a:ln w="12700">
            <a:solidFill>
              <a:srgbClr val="FD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61975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663"/>
                </a:solidFill>
              </a:rPr>
              <a:t>железодефицит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2560320"/>
            <a:ext cx="1508760" cy="310896"/>
          </a:xfrm>
          <a:prstGeom prst="roundRect">
            <a:avLst>
              <a:gd name="adj" fmla="val 44118"/>
            </a:avLst>
          </a:prstGeom>
          <a:solidFill>
            <a:srgbClr val="CDD8FF"/>
          </a:solidFill>
          <a:ln w="12700">
            <a:solidFill>
              <a:srgbClr val="CDD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261975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23FA6"/>
                </a:solidFill>
              </a:rPr>
              <a:t>воспалительный паттерн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32004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Ferritin на фоне воспаления может не разрешить конфликт. Система явно показывает расхождение clinical rules ↔ ML и не скрывает его усреднением.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26280" y="4681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663"/>
                </a:solidFill>
              </a:rPr>
              <a:t>≠ «confidence 54% и всё»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154680" cy="3611880"/>
          </a:xfrm>
          <a:prstGeom prst="roundRect">
            <a:avLst>
              <a:gd name="adj" fmla="val 3478"/>
            </a:avLst>
          </a:prstGeom>
          <a:solidFill>
            <a:srgbClr val="DDF6F3"/>
          </a:solidFill>
          <a:ln w="12700">
            <a:solidFill>
              <a:srgbClr val="AFE2DC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4964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45F"/>
                </a:solidFill>
              </a:rPr>
              <a:t>Следующий шаг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964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1108E"/>
                </a:solidFill>
              </a:rPr>
              <a:t>Ret-He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8577072" y="34290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не «ещё один анализ», а маркер, выбранный для текущего конфликта гипотез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5806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108E"/>
                </a:solidFill>
              </a:rPr>
              <a:t>Один нерешённый вопрос → одно информативное измерение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Режим разговора: сложность остаётся у системы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Пациент видит логику, но не технический шум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08E"/>
                </a:solidFill>
              </a:rPr>
              <a:t>Врач получает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62432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42032"/>
            <a:ext cx="4480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рабочую гипотезу и ключевые факты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12724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44952"/>
            <a:ext cx="4480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понятный ML-рейтинг, но не «вероятность диагноза»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63016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547872"/>
            <a:ext cx="4480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где остаётся неопределённость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13308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050792"/>
            <a:ext cx="4480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упрощённую causal-схему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636008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553712"/>
            <a:ext cx="4480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что поможет уточнить картину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3218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47663"/>
                </a:solidFill>
              </a:rPr>
              <a:t>AI не пишет врачу «проявите эмпатию» и не играет роль психолога.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537960" y="1783080"/>
            <a:ext cx="4956048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DD8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pic>
        <p:nvPicPr>
          <p:cNvPr id="18" name="Image 0" descr="/mnt/data/final_report_render/p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29968"/>
            <a:ext cx="4425696" cy="33101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03720" y="5468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08E"/>
                </a:solidFill>
              </a:rPr>
              <a:t>Отдельный лист для совместного объяснения пациенту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Что подтверждено — и где мы честно ставим границу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Для медицинского продукта важно не только показать метрику, но и объяснить её пределы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975104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0.889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05256" y="2468880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5256" y="269748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внутренняя оценка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975104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0.885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465576" y="2468880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Macro-F1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269748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12 классов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897880" y="182880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62472" y="1975104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108E"/>
                </a:solidFill>
              </a:rPr>
              <a:t>23 / 23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025896" y="2468880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автотестов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25896" y="269748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финальный release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458200" y="182880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22792" y="1975104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7663"/>
                </a:solidFill>
              </a:rPr>
              <a:t>0.262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586216" y="2468880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ECE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86216" y="2697480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8D"/>
                </a:solidFill>
              </a:rPr>
              <a:t>score ≠ probability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7240" y="333756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E5F5EC"/>
          </a:solidFill>
          <a:ln w="12700">
            <a:solidFill>
              <a:srgbClr val="BEE5C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3639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936A"/>
                </a:solidFill>
              </a:rPr>
              <a:t>Safety by design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51560" y="415137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0690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18+; беременность блокируется backend-gate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51560" y="451713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434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ФИО не входит в ML / LLM / case-base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51560" y="488289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800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LLM опциональна: ядро работает без неё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51560" y="524865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1663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врач может исправить импорт до расчёта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17920" y="3337560"/>
            <a:ext cx="4572000" cy="2057400"/>
          </a:xfrm>
          <a:prstGeom prst="roundRect">
            <a:avLst>
              <a:gd name="adj" fmla="val 5333"/>
            </a:avLst>
          </a:prstGeom>
          <a:solidFill>
            <a:srgbClr val="FDE8E4"/>
          </a:solidFill>
          <a:ln w="12700">
            <a:solidFill>
              <a:srgbClr val="F5B4AA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663"/>
                </a:solidFill>
              </a:rPr>
              <a:t>Не заявляем лишнего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492240" y="415137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0690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это CDSS-прототип, не медицинское изделие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6492240" y="451713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4348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датасет частично синтетический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492240" y="488289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48006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нет внешней проспективной клинической валидации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6492240" y="524865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5166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22222"/>
                </a:solidFill>
              </a:rPr>
              <a:t>Model score — не вероятность диагноза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Наша позиция: не шире — глубже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General lab AI умеет расшифровывать многое. Мы фокусируемся на качестве клинического рассуждения в одной сложной области.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7280" y="5303520"/>
            <a:ext cx="9052560" cy="0"/>
          </a:xfrm>
          <a:prstGeom prst="line">
            <a:avLst/>
          </a:prstGeom>
          <a:noFill/>
          <a:ln w="19050">
            <a:solidFill>
              <a:srgbClr val="323FA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97280" y="5303520"/>
            <a:ext cx="0" cy="-3383280"/>
          </a:xfrm>
          <a:prstGeom prst="line">
            <a:avLst/>
          </a:prstGeom>
          <a:noFill/>
          <a:ln w="19050">
            <a:solidFill>
              <a:srgbClr val="323FA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7498080" y="5504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38D"/>
                </a:solidFill>
              </a:rPr>
              <a:t>ширина лабораторной платформы 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7160" y="2011680"/>
            <a:ext cx="777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38D"/>
                </a:solidFill>
              </a:rPr>
              <a:t>глубина дифференциального reasoning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4572000"/>
            <a:ext cx="201168" cy="201168"/>
          </a:xfrm>
          <a:prstGeom prst="ellipse">
            <a:avLst/>
          </a:prstGeom>
          <a:solidFill>
            <a:srgbClr val="68738D"/>
          </a:solidFill>
          <a:ln w="12700">
            <a:solidFill>
              <a:srgbClr val="6873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45537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8D"/>
                </a:solidFill>
              </a:rPr>
              <a:t>Анализ ИК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4343400"/>
            <a:ext cx="201168" cy="201168"/>
          </a:xfrm>
          <a:prstGeom prst="ellipse">
            <a:avLst/>
          </a:prstGeom>
          <a:solidFill>
            <a:srgbClr val="323FA6"/>
          </a:solidFill>
          <a:ln w="12700">
            <a:solidFill>
              <a:srgbClr val="323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43251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3FA6"/>
                </a:solidFill>
              </a:rPr>
              <a:t>BloodGPT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3246120"/>
            <a:ext cx="201168" cy="201168"/>
          </a:xfrm>
          <a:prstGeom prst="ellipse">
            <a:avLst/>
          </a:prstGeom>
          <a:solidFill>
            <a:srgbClr val="2D9D98"/>
          </a:solidFill>
          <a:ln w="12700">
            <a:solidFill>
              <a:srgbClr val="2D9D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3227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9D98"/>
                </a:solidFill>
              </a:rPr>
              <a:t>ICE-T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2331720"/>
            <a:ext cx="201168" cy="201168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23134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663"/>
                </a:solidFill>
              </a:rPr>
              <a:t>MEDITRON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20116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108E"/>
                </a:solidFill>
              </a:rPr>
              <a:t>Что остаётся после хакатона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06840" y="3054096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внешняя клиническая валидация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3529584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3447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интеграция ЛИС/МИС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4005072"/>
            <a:ext cx="100584" cy="100584"/>
          </a:xfrm>
          <a:prstGeom prst="ellipse">
            <a:avLst/>
          </a:prstGeom>
          <a:solidFill>
            <a:srgbClr val="F47663"/>
          </a:solidFill>
          <a:ln w="12700">
            <a:solidFill>
              <a:srgbClr val="F476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9227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FHIR / HL7 как следующий этап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5806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108E"/>
                </a:solidFill>
              </a:rPr>
              <a:t>Машина структурирует данные.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1108E"/>
                </a:solidFill>
              </a:rPr>
              <a:t>Врач видит человека.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Backup · почему Random Forest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Выбирали по multiclass-качеству, а ограничения калибровки не скрываем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874520"/>
          <a:ext cx="10058400" cy="233172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1874520"/>
            <a:ext cx="10058400" cy="438912"/>
          </a:xfrm>
          <a:prstGeom prst="rect">
            <a:avLst/>
          </a:prstGeom>
          <a:solidFill>
            <a:srgbClr val="CDD8FF"/>
          </a:solidFill>
          <a:ln w="12700">
            <a:solidFill>
              <a:srgbClr val="CDD8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4712" y="198424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108E"/>
                </a:solidFill>
              </a:rPr>
              <a:t>Модель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0792" y="198424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08E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05272" y="198424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08E"/>
                </a:solidFill>
              </a:rPr>
              <a:t>Balanced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59752" y="198424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08E"/>
                </a:solidFill>
              </a:rPr>
              <a:t>Macro-F1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14232" y="198424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08E"/>
                </a:solidFill>
              </a:rPr>
              <a:t>ECE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0240" y="475488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FDE8E4"/>
          </a:solidFill>
          <a:ln w="12700">
            <a:solidFill>
              <a:srgbClr val="F5B4AA"/>
            </a:solidFill>
            <a:prstDash val="solid"/>
          </a:ln>
          <a:effectLst>
            <a:outerShdw sx="100000" sy="100000" kx="0" ky="0" algn="bl" rotWithShape="0" blurRad="25400" dist="50800" dir="2700000">
              <a:srgbClr val="B8C0D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240280" y="50566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108E"/>
                </a:solidFill>
              </a:rPr>
              <a:t>RF выбран за лучший Macro-F1. Из-за ECE=0.262 мы показываем Model score, а не «вероятность диагноза».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08E"/>
                </a:solidFill>
              </a:rPr>
              <a:t>Backup · ответы на неудобные вопросы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9844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D"/>
                </a:solidFill>
              </a:rPr>
              <a:t>Короткие формулировки для Q&amp;A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561320" cy="667512"/>
          </a:xfrm>
          <a:prstGeom prst="roundRect">
            <a:avLst>
              <a:gd name="adj" fmla="val 16438"/>
            </a:avLst>
          </a:prstGeom>
          <a:solidFill>
            <a:srgbClr val="EEF2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08E"/>
                </a:solidFill>
              </a:rPr>
              <a:t>Почему не ChatGPT?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819656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</a:rPr>
              <a:t>LLM не рассчитывает класс: clinical rules, ML и uncertainty работают независимо и без неё.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777240" y="2542032"/>
            <a:ext cx="1056132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79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08E"/>
                </a:solidFill>
              </a:rPr>
              <a:t>Почему Ret-He?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670048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</a:rPr>
              <a:t>Это next-best measurement в рамках настроенного дифференциального сценария, а не магический «information gain».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77240" y="3392424"/>
            <a:ext cx="10561320" cy="667512"/>
          </a:xfrm>
          <a:prstGeom prst="roundRect">
            <a:avLst>
              <a:gd name="adj" fmla="val 16438"/>
            </a:avLst>
          </a:prstGeom>
          <a:solidFill>
            <a:srgbClr val="EEF2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08E"/>
                </a:solidFill>
              </a:rPr>
              <a:t>Почему 0.89 — достаточно?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520440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</a:rPr>
              <a:t>Это внутренняя техническая метрика на данных кейса. До клинического внедрения нужна внешняя валидация.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777240" y="4242816"/>
            <a:ext cx="1056132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79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08E"/>
                </a:solidFill>
              </a:rPr>
              <a:t>Где ПДн?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37083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</a:rPr>
              <a:t>ФИО изолировано от ML/LLM/case-base; оно нужно только для текущего интерфейса и печатного PDF.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777240" y="5093208"/>
            <a:ext cx="10561320" cy="667512"/>
          </a:xfrm>
          <a:prstGeom prst="roundRect">
            <a:avLst>
              <a:gd name="adj" fmla="val 16438"/>
            </a:avLst>
          </a:prstGeom>
          <a:solidFill>
            <a:srgbClr val="EEF2FF"/>
          </a:solidFill>
          <a:ln w="12700">
            <a:solidFill>
              <a:srgbClr val="D8E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30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08E"/>
                </a:solidFill>
              </a:rPr>
              <a:t>Как масштабировать?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522122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</a:rPr>
              <a:t>Screening core уже отделён от UI через API; следующий этап — ЛИС/МИС и FHIR/HL7.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74536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681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Мидия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Meditron — команда Мидия</dc:title>
  <dc:subject>Meditron — защита решения кейса Сеченовского университета</dc:subject>
  <dc:creator>Команда Мидия</dc:creator>
  <cp:lastModifiedBy>Команда Мидия</cp:lastModifiedBy>
  <cp:revision>1</cp:revision>
  <dcterms:created xsi:type="dcterms:W3CDTF">2026-10-04T12:33:49Z</dcterms:created>
  <dcterms:modified xsi:type="dcterms:W3CDTF">2026-10-04T12:33:49Z</dcterms:modified>
</cp:coreProperties>
</file>